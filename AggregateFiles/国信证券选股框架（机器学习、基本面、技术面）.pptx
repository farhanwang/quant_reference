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63" r:id="rId5"/>
    <p:sldId id="272" r:id="rId6"/>
    <p:sldId id="258" r:id="rId7"/>
    <p:sldId id="262" r:id="rId8"/>
    <p:sldId id="281" r:id="rId9"/>
    <p:sldId id="286" r:id="rId10"/>
    <p:sldId id="280" r:id="rId11"/>
    <p:sldId id="282" r:id="rId12"/>
    <p:sldId id="273" r:id="rId13"/>
    <p:sldId id="287" r:id="rId14"/>
    <p:sldId id="274" r:id="rId15"/>
    <p:sldId id="283" r:id="rId16"/>
    <p:sldId id="28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4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17B14-94E9-49E7-AF86-15563055CC65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AB088-D863-444D-8E2A-878ED4624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42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AB088-D863-444D-8E2A-878ED462438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361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AB088-D863-444D-8E2A-878ED462438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79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03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52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41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20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2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76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36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782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214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86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28FA1-DFF7-478D-AF53-06DA01189C2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CC89F-3302-4C2B-BE47-F161EA1D7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2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125" y="1685630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国</a:t>
            </a:r>
            <a:r>
              <a:rPr lang="zh-CN" altLang="en-US" dirty="0" smtClean="0"/>
              <a:t>信证券选股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4000" dirty="0" smtClean="0"/>
              <a:t>机器学习、基本面、技术面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50103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72764" y="806789"/>
            <a:ext cx="1021404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机器学习</a:t>
            </a:r>
            <a:endParaRPr lang="en-US" altLang="zh-CN" sz="2000" b="1" kern="100" dirty="0" smtClean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纯机器学习选股步骤</a:t>
            </a:r>
            <a:r>
              <a:rPr lang="zh-CN" altLang="en-US" sz="2000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/>
              <a:t>Logistic</a:t>
            </a:r>
            <a:r>
              <a:rPr lang="zh-CN" altLang="en-US" sz="2000" dirty="0"/>
              <a:t>模型、</a:t>
            </a:r>
            <a:r>
              <a:rPr lang="en-US" altLang="zh-CN" sz="2000" dirty="0"/>
              <a:t>SVM</a:t>
            </a:r>
            <a:r>
              <a:rPr lang="zh-CN" altLang="en-US" sz="2000" dirty="0"/>
              <a:t>、</a:t>
            </a:r>
            <a:r>
              <a:rPr lang="en-US" altLang="zh-CN" sz="2000" dirty="0" smtClean="0"/>
              <a:t>RNN</a:t>
            </a:r>
            <a:r>
              <a:rPr lang="zh-CN" altLang="en-US" sz="2000" dirty="0" smtClean="0"/>
              <a:t>（递归神经网络）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机器学习增强选股</a:t>
            </a:r>
            <a:r>
              <a:rPr lang="zh-CN" altLang="en-US" sz="2000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 smtClean="0"/>
              <a:t>Adaboost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基本面</a:t>
            </a:r>
            <a:endParaRPr lang="en-US" altLang="zh-CN" sz="2000" b="1" dirty="0" smtClean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基本面：</a:t>
            </a:r>
            <a:r>
              <a:rPr lang="zh-CN" altLang="zh-CN" sz="2000" b="1" dirty="0"/>
              <a:t>成长股</a:t>
            </a:r>
            <a:r>
              <a:rPr lang="zh-CN" altLang="zh-CN" sz="2000" b="1" dirty="0"/>
              <a:t>选股</a:t>
            </a:r>
            <a:r>
              <a:rPr lang="zh-CN" altLang="zh-CN" sz="2000" b="1" dirty="0"/>
              <a:t>策略</a:t>
            </a:r>
            <a:r>
              <a:rPr lang="zh-CN" altLang="en-US" sz="2000" dirty="0"/>
              <a:t>、</a:t>
            </a:r>
            <a:r>
              <a:rPr lang="en-US" altLang="zh-CN" sz="2000" dirty="0"/>
              <a:t>GARP</a:t>
            </a:r>
            <a:r>
              <a:rPr lang="zh-CN" altLang="zh-CN" sz="2000" dirty="0"/>
              <a:t>行业中性选股</a:t>
            </a:r>
            <a:r>
              <a:rPr lang="zh-CN" altLang="zh-CN" sz="2000" dirty="0"/>
              <a:t>策略价值投</a:t>
            </a:r>
            <a:r>
              <a:rPr lang="zh-CN" altLang="en-US" sz="2000" dirty="0"/>
              <a:t>选股策略、</a:t>
            </a:r>
            <a:r>
              <a:rPr lang="zh-CN" altLang="zh-CN" sz="2000" dirty="0"/>
              <a:t>高毛利率选股</a:t>
            </a:r>
            <a:r>
              <a:rPr lang="zh-CN" altLang="zh-CN" sz="2000" dirty="0"/>
              <a:t>模型</a:t>
            </a:r>
            <a:r>
              <a:rPr lang="zh-CN" altLang="en-US" sz="2000" dirty="0"/>
              <a:t>、  </a:t>
            </a:r>
            <a:r>
              <a:rPr lang="zh-CN" altLang="zh-CN" sz="2000" b="1" dirty="0"/>
              <a:t>白马</a:t>
            </a:r>
            <a:r>
              <a:rPr lang="zh-CN" altLang="zh-CN" sz="2000" b="1" dirty="0"/>
              <a:t>股量化选</a:t>
            </a:r>
            <a:r>
              <a:rPr lang="zh-CN" altLang="zh-CN" sz="2000" b="1" dirty="0" smtClean="0"/>
              <a:t>股</a:t>
            </a:r>
            <a:r>
              <a:rPr lang="zh-CN" altLang="en-US" sz="2000" dirty="0" smtClean="0"/>
              <a:t>、</a:t>
            </a:r>
            <a:r>
              <a:rPr lang="zh-CN" altLang="zh-CN" sz="2000" dirty="0"/>
              <a:t>资产周转率选股</a:t>
            </a:r>
            <a:r>
              <a:rPr lang="zh-CN" altLang="zh-CN" sz="2000" dirty="0" smtClean="0"/>
              <a:t>模型</a:t>
            </a:r>
            <a:r>
              <a:rPr lang="zh-CN" altLang="en-US" sz="2000" dirty="0" smtClean="0"/>
              <a:t>、</a:t>
            </a:r>
            <a:r>
              <a:rPr lang="zh-CN" altLang="zh-CN" sz="2000" dirty="0"/>
              <a:t>价值选股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国外选股法则：</a:t>
            </a:r>
            <a:r>
              <a:rPr lang="zh-CN" altLang="zh-CN" sz="2000" dirty="0"/>
              <a:t>欧</a:t>
            </a:r>
            <a:r>
              <a:rPr lang="zh-CN" altLang="zh-CN" sz="2000" dirty="0"/>
              <a:t>奈尔选股</a:t>
            </a:r>
            <a:r>
              <a:rPr lang="zh-CN" altLang="zh-CN" sz="2000" dirty="0"/>
              <a:t>法则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Piotroski</a:t>
            </a:r>
            <a:r>
              <a:rPr lang="zh-CN" altLang="zh-CN" sz="2000" dirty="0"/>
              <a:t>选股</a:t>
            </a:r>
            <a:r>
              <a:rPr lang="zh-CN" altLang="zh-CN" sz="2000" dirty="0"/>
              <a:t>模型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技术面选股</a:t>
            </a:r>
            <a:endParaRPr lang="en-US" altLang="zh-CN" sz="2000" b="1" kern="100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/>
              <a:t>基于相对价格的超跌反弹选股</a:t>
            </a:r>
            <a:r>
              <a:rPr lang="zh-CN" altLang="zh-CN" sz="2000" dirty="0"/>
              <a:t>策略</a:t>
            </a:r>
            <a:r>
              <a:rPr lang="zh-CN" altLang="en-US" sz="2000" dirty="0"/>
              <a:t>、</a:t>
            </a:r>
            <a:r>
              <a:rPr lang="en-US" altLang="zh-CN" sz="2000" dirty="0"/>
              <a:t>OBVMACD</a:t>
            </a:r>
            <a:r>
              <a:rPr lang="zh-CN" altLang="zh-CN" sz="2000" dirty="0"/>
              <a:t>指标选股</a:t>
            </a:r>
            <a:r>
              <a:rPr lang="zh-CN" altLang="zh-CN" sz="2000" dirty="0"/>
              <a:t>模型</a:t>
            </a:r>
            <a:r>
              <a:rPr lang="zh-CN" altLang="en-US" sz="2000" dirty="0"/>
              <a:t>、</a:t>
            </a:r>
            <a:r>
              <a:rPr lang="zh-CN" altLang="zh-CN" sz="2000" dirty="0"/>
              <a:t>葛兰碧</a:t>
            </a:r>
            <a:r>
              <a:rPr lang="zh-CN" altLang="zh-CN" sz="2000" dirty="0"/>
              <a:t>法则选股模型</a:t>
            </a:r>
            <a:endParaRPr lang="en-US" altLang="zh-CN" sz="2000" dirty="0"/>
          </a:p>
        </p:txBody>
      </p:sp>
      <p:sp>
        <p:nvSpPr>
          <p:cNvPr id="3" name="矩形 2"/>
          <p:cNvSpPr/>
          <p:nvPr/>
        </p:nvSpPr>
        <p:spPr>
          <a:xfrm>
            <a:off x="5525788" y="443940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/>
              <a:t>目录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82050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125" y="1685630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国</a:t>
            </a:r>
            <a:r>
              <a:rPr lang="zh-CN" altLang="en-US" dirty="0" smtClean="0"/>
              <a:t>信证券选股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4000" dirty="0" smtClean="0"/>
              <a:t>机器学习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6649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一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纯机器学习模型</a:t>
            </a:r>
            <a:r>
              <a:rPr lang="zh-CN" altLang="en-US" sz="3200" dirty="0"/>
              <a:t>选</a:t>
            </a:r>
            <a:r>
              <a:rPr lang="zh-CN" altLang="en-US" sz="3200" dirty="0" smtClean="0"/>
              <a:t>股步骤</a:t>
            </a:r>
            <a:endParaRPr lang="zh-CN" altLang="zh-CN" sz="3200" dirty="0"/>
          </a:p>
        </p:txBody>
      </p:sp>
      <p:sp>
        <p:nvSpPr>
          <p:cNvPr id="2" name="矩形 1"/>
          <p:cNvSpPr/>
          <p:nvPr/>
        </p:nvSpPr>
        <p:spPr>
          <a:xfrm>
            <a:off x="972765" y="1134868"/>
            <a:ext cx="10214043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选股步骤</a:t>
            </a:r>
            <a:r>
              <a:rPr lang="zh-CN" altLang="zh-CN" b="1" dirty="0" smtClean="0">
                <a:solidFill>
                  <a:schemeClr val="accent5">
                    <a:lumMod val="75000"/>
                  </a:schemeClr>
                </a:solidFill>
              </a:rPr>
              <a:t>：</a:t>
            </a:r>
            <a:endParaRPr lang="en-US" altLang="zh-C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/>
              <a:t>Step1</a:t>
            </a:r>
            <a:r>
              <a:rPr lang="zh-CN" altLang="zh-CN" dirty="0"/>
              <a:t>：因子数据的采集，</a:t>
            </a:r>
            <a:r>
              <a:rPr lang="en-US" altLang="zh-CN" dirty="0"/>
              <a:t>2008</a:t>
            </a:r>
            <a:r>
              <a:rPr lang="zh-CN" altLang="zh-CN" dirty="0"/>
              <a:t>年至</a:t>
            </a:r>
            <a:r>
              <a:rPr lang="en-US" altLang="zh-CN" dirty="0"/>
              <a:t>2016</a:t>
            </a:r>
            <a:r>
              <a:rPr lang="zh-CN" altLang="zh-CN" dirty="0"/>
              <a:t>年，因子个数为</a:t>
            </a:r>
            <a:r>
              <a:rPr lang="en-US" altLang="zh-CN" dirty="0"/>
              <a:t>69</a:t>
            </a:r>
            <a:r>
              <a:rPr lang="zh-CN" altLang="zh-CN" dirty="0"/>
              <a:t>个</a:t>
            </a:r>
            <a:r>
              <a:rPr lang="en-US" altLang="zh-CN" dirty="0"/>
              <a:t>11</a:t>
            </a:r>
            <a:r>
              <a:rPr lang="zh-CN" altLang="zh-CN" dirty="0"/>
              <a:t>大类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Step2</a:t>
            </a:r>
            <a:r>
              <a:rPr lang="zh-CN" altLang="zh-CN" dirty="0"/>
              <a:t>：因子数据共线性检查，筛选明显冗余的线性相关因子，得到最终的因子</a:t>
            </a:r>
            <a:r>
              <a:rPr lang="en-US" altLang="zh-CN" dirty="0"/>
              <a:t>13</a:t>
            </a:r>
            <a:r>
              <a:rPr lang="zh-CN" altLang="zh-CN" dirty="0"/>
              <a:t>个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Step3</a:t>
            </a:r>
            <a:r>
              <a:rPr lang="zh-CN" altLang="zh-CN" b="1" dirty="0"/>
              <a:t>：</a:t>
            </a:r>
            <a:r>
              <a:rPr lang="zh-CN" altLang="zh-CN" dirty="0"/>
              <a:t>数据的筛查，在给定的时间（</a:t>
            </a:r>
            <a:r>
              <a:rPr lang="en-US" altLang="zh-CN" dirty="0"/>
              <a:t>2008</a:t>
            </a:r>
            <a:r>
              <a:rPr lang="zh-CN" altLang="zh-CN" dirty="0"/>
              <a:t>年</a:t>
            </a:r>
            <a:r>
              <a:rPr lang="en-US" altLang="zh-CN" dirty="0"/>
              <a:t>4</a:t>
            </a:r>
            <a:r>
              <a:rPr lang="zh-CN" altLang="zh-CN" dirty="0"/>
              <a:t>月，如果某只股票在这几个因子上的数据缺失，那么我们剔除改只股票），最后对数据的因子进行标准化处理，均值为</a:t>
            </a:r>
            <a:r>
              <a:rPr lang="en-US" altLang="zh-CN" dirty="0"/>
              <a:t>0</a:t>
            </a:r>
            <a:r>
              <a:rPr lang="zh-CN" altLang="zh-CN" dirty="0"/>
              <a:t>，方差为</a:t>
            </a:r>
            <a:r>
              <a:rPr lang="en-US" altLang="zh-CN" dirty="0"/>
              <a:t>1</a:t>
            </a:r>
            <a:r>
              <a:rPr lang="zh-CN" altLang="zh-CN" dirty="0"/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Step4</a:t>
            </a:r>
            <a:r>
              <a:rPr lang="zh-CN" altLang="zh-CN" dirty="0"/>
              <a:t>：</a:t>
            </a:r>
            <a:r>
              <a:rPr lang="zh-CN" altLang="zh-CN" dirty="0" smtClean="0"/>
              <a:t>用</a:t>
            </a:r>
            <a:r>
              <a:rPr lang="zh-CN" altLang="en-US" dirty="0"/>
              <a:t>分类器</a:t>
            </a:r>
            <a:r>
              <a:rPr lang="zh-CN" altLang="zh-CN" dirty="0" smtClean="0"/>
              <a:t>对</a:t>
            </a:r>
            <a:r>
              <a:rPr lang="zh-CN" altLang="zh-CN" dirty="0"/>
              <a:t>股票收益分类，因变量为股票下期的收益，区分为</a:t>
            </a:r>
            <a:r>
              <a:rPr lang="en-US" altLang="zh-CN" dirty="0"/>
              <a:t>1</a:t>
            </a:r>
            <a:r>
              <a:rPr lang="zh-CN" altLang="zh-CN" dirty="0"/>
              <a:t>和</a:t>
            </a:r>
            <a:r>
              <a:rPr lang="en-US" altLang="zh-CN" dirty="0"/>
              <a:t>-1</a:t>
            </a:r>
            <a:r>
              <a:rPr lang="zh-CN" altLang="zh-CN" dirty="0"/>
              <a:t>，对</a:t>
            </a:r>
            <a:r>
              <a:rPr lang="en-US" altLang="zh-CN" dirty="0"/>
              <a:t>13</a:t>
            </a:r>
            <a:r>
              <a:rPr lang="zh-CN" altLang="zh-CN" dirty="0"/>
              <a:t>个因子</a:t>
            </a:r>
            <a:r>
              <a:rPr lang="zh-CN" altLang="zh-CN" dirty="0" smtClean="0"/>
              <a:t>进行</a:t>
            </a:r>
            <a:r>
              <a:rPr lang="zh-CN" altLang="en-US" dirty="0" smtClean="0"/>
              <a:t>分类器</a:t>
            </a:r>
            <a:r>
              <a:rPr lang="zh-CN" altLang="zh-CN" dirty="0" smtClean="0"/>
              <a:t>模型</a:t>
            </a:r>
            <a:r>
              <a:rPr lang="zh-CN" altLang="zh-CN" dirty="0"/>
              <a:t>，前一年的数据建立模型样本集，后一年的数据作为测试集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Step5</a:t>
            </a:r>
            <a:r>
              <a:rPr lang="zh-CN" altLang="zh-CN" b="1" dirty="0"/>
              <a:t>：</a:t>
            </a:r>
            <a:r>
              <a:rPr lang="zh-CN" altLang="zh-CN" dirty="0"/>
              <a:t>用逐步消去法进行因子筛选，确定最终的因子，如果去掉某个因子，整体的分类质量有所提高（测试集的准确度），那么说明该因子使冗余的。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Step6</a:t>
            </a:r>
            <a:r>
              <a:rPr lang="zh-CN" altLang="zh-CN" b="1" dirty="0"/>
              <a:t>：</a:t>
            </a:r>
            <a:r>
              <a:rPr lang="zh-CN" altLang="zh-CN" dirty="0"/>
              <a:t>根据确定的模型，</a:t>
            </a:r>
            <a:r>
              <a:rPr lang="zh-CN" altLang="zh-CN" dirty="0" smtClean="0"/>
              <a:t>建立</a:t>
            </a:r>
            <a:r>
              <a:rPr lang="zh-CN" altLang="en-US" dirty="0" smtClean="0"/>
              <a:t>分类器</a:t>
            </a:r>
            <a:r>
              <a:rPr lang="zh-CN" altLang="zh-CN" dirty="0" smtClean="0"/>
              <a:t>模型</a:t>
            </a:r>
            <a:r>
              <a:rPr lang="zh-CN" altLang="zh-CN" dirty="0"/>
              <a:t>，作为我们最终的多因子模型。</a:t>
            </a:r>
          </a:p>
          <a:p>
            <a:pPr>
              <a:lnSpc>
                <a:spcPct val="150000"/>
              </a:lnSpc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9534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/>
              <a:t>一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纯机器学习模型</a:t>
            </a:r>
            <a:r>
              <a:rPr lang="en-US" altLang="zh-CN" sz="3200" dirty="0" smtClean="0"/>
              <a:t>--</a:t>
            </a:r>
            <a:r>
              <a:rPr lang="en-US" altLang="zh-CN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Logistic</a:t>
            </a:r>
            <a:endParaRPr lang="zh-CN" altLang="zh-CN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29223" y="1131580"/>
            <a:ext cx="10214043" cy="460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Logistic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模型</a:t>
            </a:r>
            <a:endParaRPr lang="zh-CN" altLang="zh-CN" dirty="0"/>
          </a:p>
        </p:txBody>
      </p:sp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3045668" y="1906520"/>
            <a:ext cx="2676525" cy="90487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3435919" y="3125953"/>
            <a:ext cx="2600325" cy="5048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335930" y="4345386"/>
            <a:ext cx="84306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自变量</a:t>
            </a:r>
            <a:r>
              <a:rPr lang="zh-CN" altLang="en-US" b="1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大类因子值，组内平均。</a:t>
            </a:r>
            <a:endParaRPr lang="en-US" altLang="zh-CN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因变量</a:t>
            </a:r>
            <a:r>
              <a:rPr lang="zh-CN" altLang="en-US" b="1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下一期的收益，如果下一期收益大于沪深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，则记为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，否则记为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261" y="1591962"/>
            <a:ext cx="40957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6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一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纯机器学习模型</a:t>
            </a:r>
            <a:r>
              <a:rPr lang="en-US" altLang="zh-CN" sz="3200" dirty="0" smtClean="0"/>
              <a:t>--</a:t>
            </a:r>
            <a:r>
              <a:rPr lang="en-US" altLang="zh-CN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RNN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模型</a:t>
            </a:r>
            <a:endParaRPr lang="zh-CN" altLang="zh-CN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548" y="599305"/>
            <a:ext cx="3873059" cy="18957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548" y="2934533"/>
            <a:ext cx="3873059" cy="151038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941" y="4884396"/>
            <a:ext cx="3954666" cy="16041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500" y="4756305"/>
            <a:ext cx="3584679" cy="173227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500" y="2934533"/>
            <a:ext cx="3497593" cy="146756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500" y="656585"/>
            <a:ext cx="3497593" cy="176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3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5325" y="820101"/>
            <a:ext cx="919843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0" dirty="0" smtClean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楷体" panose="02010609060101010101" pitchFamily="49" charset="-122"/>
              </a:rPr>
              <a:t>选股</a:t>
            </a:r>
            <a:r>
              <a:rPr lang="zh-CN" altLang="zh-CN" sz="2400" kern="0" dirty="0" smtClean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楷体" panose="02010609060101010101" pitchFamily="49" charset="-122"/>
              </a:rPr>
              <a:t>步骤</a:t>
            </a:r>
            <a:r>
              <a:rPr lang="zh-CN" altLang="zh-CN" sz="2400" kern="0" dirty="0" smtClean="0">
                <a:latin typeface="Calibri" panose="020F0502020204030204" pitchFamily="34" charset="0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zh-CN" dirty="0"/>
              <a:t>Step1</a:t>
            </a:r>
            <a:r>
              <a:rPr lang="zh-CN" altLang="zh-CN" dirty="0"/>
              <a:t>：划分类标，给定股票的训练集</a:t>
            </a:r>
          </a:p>
          <a:p>
            <a:r>
              <a:rPr lang="en-US" altLang="zh-CN" dirty="0"/>
              <a:t>Step2</a:t>
            </a:r>
            <a:r>
              <a:rPr lang="zh-CN" altLang="zh-CN" dirty="0"/>
              <a:t>：构建弱分类器（一个将因子数值映射到信任得分空间的非线性函数）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                                                      Z</a:t>
            </a:r>
            <a:r>
              <a:rPr lang="zh-CN" altLang="zh-CN" dirty="0"/>
              <a:t>越小，代表因子越能</a:t>
            </a:r>
            <a:r>
              <a:rPr lang="zh-CN" altLang="zh-CN" dirty="0" smtClean="0"/>
              <a:t>区分</a:t>
            </a:r>
            <a:r>
              <a:rPr lang="zh-CN" altLang="en-US" dirty="0" smtClean="0"/>
              <a:t>，每一步最小的</a:t>
            </a:r>
            <a:r>
              <a:rPr lang="en-US" altLang="zh-CN" dirty="0" smtClean="0"/>
              <a:t>Z</a:t>
            </a:r>
            <a:r>
              <a:rPr lang="zh-CN" altLang="en-US" dirty="0" smtClean="0"/>
              <a:t>作为我们的因子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smtClean="0"/>
              <a:t>                                                     </a:t>
            </a:r>
          </a:p>
          <a:p>
            <a:r>
              <a:rPr lang="en-US" altLang="zh-CN" dirty="0" smtClean="0"/>
              <a:t>Step3</a:t>
            </a:r>
            <a:r>
              <a:rPr lang="zh-CN" altLang="zh-CN" dirty="0"/>
              <a:t>：更新权重</a:t>
            </a:r>
            <a:r>
              <a:rPr lang="zh-CN" altLang="zh-CN" dirty="0" smtClean="0"/>
              <a:t>，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Step4</a:t>
            </a:r>
            <a:r>
              <a:rPr lang="zh-CN" altLang="zh-CN" dirty="0"/>
              <a:t>：组合强分类器：将所有的弱分类器简单相加，得到最终的强</a:t>
            </a:r>
            <a:r>
              <a:rPr lang="zh-CN" altLang="zh-CN" dirty="0" smtClean="0"/>
              <a:t>分类器</a:t>
            </a:r>
            <a:endParaRPr lang="en-US" altLang="zh-CN" dirty="0" smtClean="0"/>
          </a:p>
          <a:p>
            <a:endParaRPr lang="zh-CN" altLang="zh-CN" dirty="0"/>
          </a:p>
          <a:p>
            <a:endParaRPr lang="zh-CN" altLang="zh-CN" dirty="0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二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机器学习增强选股</a:t>
            </a:r>
            <a:r>
              <a:rPr lang="en-US" altLang="zh-CN" sz="3200" dirty="0" smtClean="0"/>
              <a:t>--</a:t>
            </a:r>
            <a:r>
              <a:rPr lang="en-US" altLang="zh-CN" sz="3200" dirty="0" err="1" smtClean="0"/>
              <a:t>AdaBoost</a:t>
            </a:r>
            <a:endParaRPr lang="zh-CN" altLang="zh-CN" sz="3200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07734" y="2036107"/>
            <a:ext cx="1819275" cy="60007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83515" y="2130878"/>
            <a:ext cx="581025" cy="2667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5312908" y="2091897"/>
            <a:ext cx="2371725" cy="6096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5"/>
          <a:stretch>
            <a:fillRect/>
          </a:stretch>
        </p:blipFill>
        <p:spPr>
          <a:xfrm>
            <a:off x="4049485" y="4145046"/>
            <a:ext cx="1876425" cy="37147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6"/>
          <a:stretch>
            <a:fillRect/>
          </a:stretch>
        </p:blipFill>
        <p:spPr>
          <a:xfrm>
            <a:off x="4235223" y="5316615"/>
            <a:ext cx="1504950" cy="6096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7"/>
          <a:stretch>
            <a:fillRect/>
          </a:stretch>
        </p:blipFill>
        <p:spPr>
          <a:xfrm>
            <a:off x="2007734" y="2714057"/>
            <a:ext cx="1762125" cy="6286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941" y="0"/>
            <a:ext cx="3084059" cy="35026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7941" y="3534286"/>
            <a:ext cx="3084059" cy="332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92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二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机器学习增强选股</a:t>
            </a:r>
            <a:r>
              <a:rPr lang="en-US" altLang="zh-CN" sz="3200" dirty="0" smtClean="0"/>
              <a:t>--</a:t>
            </a:r>
            <a:r>
              <a:rPr lang="en-US" altLang="zh-CN" sz="3200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AdaBoost</a:t>
            </a:r>
            <a:endParaRPr lang="zh-CN" altLang="zh-CN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715645" y="746125"/>
            <a:ext cx="4868726" cy="2704646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117771" y="584775"/>
            <a:ext cx="5486400" cy="286599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326571" y="4195580"/>
            <a:ext cx="1137557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总体上说，回归法最高点净值比</a:t>
            </a:r>
            <a:r>
              <a:rPr lang="en-US" altLang="zh-CN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Adaboost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要好，但是整体的波动比较大。尤其是在震荡时期，</a:t>
            </a:r>
            <a:r>
              <a:rPr lang="en-US" altLang="zh-CN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Adaboost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表现较好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en-US" altLang="zh-CN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Adaboost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因子的确定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：对每一大类定义一个强分类器（如果类中因子个数大于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，那么弱分类器取因子数的一半，否则，全部的因子作为弱分类器），计算弱分类器的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指标的均值，选取最小的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个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对应的</a:t>
            </a:r>
            <a:r>
              <a:rPr lang="en-US" altLang="zh-CN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Adaboost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因子作为最后的因子。</a:t>
            </a:r>
          </a:p>
        </p:txBody>
      </p:sp>
    </p:spTree>
    <p:extLst>
      <p:ext uri="{BB962C8B-B14F-4D97-AF65-F5344CB8AC3E}">
        <p14:creationId xmlns:p14="http://schemas.microsoft.com/office/powerpoint/2010/main" val="201161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125" y="1685630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国</a:t>
            </a:r>
            <a:r>
              <a:rPr lang="zh-CN" altLang="en-US" dirty="0" smtClean="0"/>
              <a:t>信证券选股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4000" dirty="0" smtClean="0"/>
              <a:t>基本面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68378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三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基本面选股</a:t>
            </a:r>
            <a:r>
              <a:rPr lang="en-US" altLang="zh-CN" sz="3200" dirty="0" smtClean="0"/>
              <a:t>—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成长股选股策略</a:t>
            </a:r>
            <a:endParaRPr lang="zh-CN" altLang="zh-CN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2257" y="791366"/>
            <a:ext cx="6096000" cy="20867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zh-CN" altLang="zh-CN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高盈利性成长股选股策略：</a:t>
            </a:r>
            <a:endParaRPr lang="zh-CN" altLang="zh-CN" kern="100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去年年报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ROE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25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％；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连续四年净利润同比增长率均大于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％且小于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％；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收盘价大于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元；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流通市值大于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亿元，小于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亿元（不再局限于中小盘股）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257" y="3308275"/>
            <a:ext cx="11059886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CN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zh-CN" altLang="zh-CN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高盈利质量成长股选股策略：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公司的营业收入增长率和毛利率是反应公司盈利质量的指标，该两项指标突出的公司未来通常值得看好。盈利能力和盈利质量一般共生。</a:t>
            </a:r>
          </a:p>
          <a:p>
            <a:pPr algn="just">
              <a:lnSpc>
                <a:spcPct val="120000"/>
              </a:lnSpc>
            </a:pP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去年年报净资产负债率低于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0.7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； （避免收入是由于借贷来创造）</a:t>
            </a:r>
          </a:p>
          <a:p>
            <a:pPr algn="just">
              <a:lnSpc>
                <a:spcPct val="120000"/>
              </a:lnSpc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连续四年营业收入同比增长率均大于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％且小于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％； </a:t>
            </a:r>
          </a:p>
          <a:p>
            <a:pPr algn="just">
              <a:lnSpc>
                <a:spcPct val="120000"/>
              </a:lnSpc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连续四年毛利率同比增长率均大于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％且小于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％（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％这个数字来源于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08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年金融危机的制约，否则可以进一步提高）； </a:t>
            </a:r>
          </a:p>
          <a:p>
            <a:pPr algn="just">
              <a:lnSpc>
                <a:spcPct val="120000"/>
              </a:lnSpc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收盘价大于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元； </a:t>
            </a:r>
          </a:p>
          <a:p>
            <a:pPr algn="just">
              <a:lnSpc>
                <a:spcPct val="120000"/>
              </a:lnSpc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流通市值大于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亿元，小于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亿元； </a:t>
            </a:r>
          </a:p>
        </p:txBody>
      </p:sp>
      <p:sp>
        <p:nvSpPr>
          <p:cNvPr id="7" name="矩形 6"/>
          <p:cNvSpPr/>
          <p:nvPr/>
        </p:nvSpPr>
        <p:spPr>
          <a:xfrm>
            <a:off x="6718570" y="791366"/>
            <a:ext cx="5201287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zh-CN" altLang="zh-CN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潜力成长股选股策略：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需要长期持有，高风险高回报（结果不理想）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连续四年每股收益同比增长率均大于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％且小于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％；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收盘价小于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元且大于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元；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流通市值大于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亿元且小于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亿元； </a:t>
            </a:r>
          </a:p>
        </p:txBody>
      </p:sp>
    </p:spTree>
    <p:extLst>
      <p:ext uri="{BB962C8B-B14F-4D97-AF65-F5344CB8AC3E}">
        <p14:creationId xmlns:p14="http://schemas.microsoft.com/office/powerpoint/2010/main" val="54959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三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基本面选股</a:t>
            </a:r>
            <a:r>
              <a:rPr lang="en-US" altLang="zh-CN" sz="3200" dirty="0" smtClean="0"/>
              <a:t>—</a:t>
            </a:r>
            <a:r>
              <a:rPr lang="zh-CN" altLang="en-US" sz="3200" dirty="0" smtClean="0"/>
              <a:t>白马股选股策略</a:t>
            </a:r>
            <a:endParaRPr lang="zh-CN" altLang="zh-CN" sz="3200" dirty="0"/>
          </a:p>
        </p:txBody>
      </p:sp>
      <p:sp>
        <p:nvSpPr>
          <p:cNvPr id="2" name="矩形 1"/>
          <p:cNvSpPr/>
          <p:nvPr/>
        </p:nvSpPr>
        <p:spPr>
          <a:xfrm>
            <a:off x="707572" y="3493540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行业中性方法</a:t>
            </a:r>
            <a:r>
              <a:rPr lang="zh-CN" altLang="zh-CN" b="1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endParaRPr lang="en-US" altLang="zh-CN" b="1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对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每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期策略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的组合个股按照申万一级行业进行统计，按照沪深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的行业占比进行配置，行业内股票等权配置；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如果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其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中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未含有某一个行业，那么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选取</a:t>
            </a:r>
            <a:r>
              <a:rPr lang="zh-CN" altLang="en-US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策略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中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得分最高的个股作为行业代表加入组合。</a:t>
            </a:r>
          </a:p>
        </p:txBody>
      </p:sp>
      <p:sp>
        <p:nvSpPr>
          <p:cNvPr id="3" name="矩形 2"/>
          <p:cNvSpPr/>
          <p:nvPr/>
        </p:nvSpPr>
        <p:spPr>
          <a:xfrm>
            <a:off x="707572" y="823284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选股策略：</a:t>
            </a:r>
            <a:endParaRPr lang="en-US" altLang="zh-CN" b="1" kern="100" dirty="0" smtClean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按照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ROE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波动率，将全市场分为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ROE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稳定组和高波动组。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ROE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稳定组中，过去三年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ROE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每年均在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10%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以上的公司。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营业收入同比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环比改善。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净利润同比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环比改善。 </a:t>
            </a:r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7086601" y="848236"/>
            <a:ext cx="4561113" cy="2645304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7086601" y="4152657"/>
            <a:ext cx="4561113" cy="10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22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1201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四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国外选股法则</a:t>
            </a:r>
            <a:r>
              <a:rPr lang="en-US" altLang="zh-CN" sz="3200" dirty="0"/>
              <a:t>-- </a:t>
            </a:r>
            <a:r>
              <a:rPr lang="zh-CN" altLang="zh-C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欧</a:t>
            </a:r>
            <a:r>
              <a:rPr lang="zh-CN" altLang="zh-C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奈尔选股</a:t>
            </a:r>
            <a:r>
              <a:rPr lang="zh-CN" altLang="zh-CN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法则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和</a:t>
            </a:r>
            <a:r>
              <a:rPr lang="en-US" altLang="zh-CN" sz="32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Piotroski</a:t>
            </a:r>
            <a:r>
              <a:rPr lang="zh-CN" alt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选股法则</a:t>
            </a:r>
            <a:endParaRPr lang="zh-CN" altLang="zh-CN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1886" y="948690"/>
            <a:ext cx="585651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CAN SLIM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选股法则：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（没有具体介绍这几个条件如何使用）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 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Current quarterly earnings per share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即最近季报的每股盈利。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Annual earning increases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即每股盈利增长幅度。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New products ,New management, New highs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即新产品、新管理、股价新高。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 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Supply and demand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即流通盘、市值、交易量大小。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 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Leader or laggard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即是否行业龙头。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Institutional sponsorship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即机构认同度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代表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Market direction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即大盘市场趋势。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行业中性和市值中性：</a:t>
            </a:r>
            <a:r>
              <a:rPr lang="en-US" altLang="zh-CN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CanSlim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打分后的结果按市值和行业进行分类。</a:t>
            </a: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868885" y="1089469"/>
            <a:ext cx="5053784" cy="469596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868885" y="6105459"/>
            <a:ext cx="4573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选取合计打分为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的为我们最后的股票。</a:t>
            </a:r>
          </a:p>
        </p:txBody>
      </p:sp>
    </p:spTree>
    <p:extLst>
      <p:ext uri="{BB962C8B-B14F-4D97-AF65-F5344CB8AC3E}">
        <p14:creationId xmlns:p14="http://schemas.microsoft.com/office/powerpoint/2010/main" val="3916007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125" y="1685630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国</a:t>
            </a:r>
            <a:r>
              <a:rPr lang="zh-CN" altLang="en-US" dirty="0" smtClean="0"/>
              <a:t>信证券选股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4000" dirty="0" smtClean="0"/>
              <a:t>技术面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835092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五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技术面选股</a:t>
            </a:r>
            <a:r>
              <a:rPr lang="en-US" altLang="zh-CN" sz="3200" dirty="0" smtClean="0"/>
              <a:t>1– 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基于</a:t>
            </a:r>
            <a:r>
              <a:rPr lang="zh-CN" altLang="zh-C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相对价格的超跌反弹选股策略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2860131" y="1348780"/>
            <a:ext cx="5274310" cy="298513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860131" y="5097921"/>
            <a:ext cx="6096000" cy="8758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买入后最长持仓时间为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天，当买入后价格持续下跌，亏损幅度达到δ（设置为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-15%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）时，止损出场。</a:t>
            </a:r>
          </a:p>
        </p:txBody>
      </p:sp>
    </p:spTree>
    <p:extLst>
      <p:ext uri="{BB962C8B-B14F-4D97-AF65-F5344CB8AC3E}">
        <p14:creationId xmlns:p14="http://schemas.microsoft.com/office/powerpoint/2010/main" val="2158718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766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五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技术面选股</a:t>
            </a:r>
            <a:r>
              <a:rPr lang="en-US" altLang="zh-CN" sz="3200" dirty="0" smtClean="0"/>
              <a:t>2– 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基于</a:t>
            </a:r>
            <a:r>
              <a:rPr lang="zh-CN" altLang="zh-C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相对价格的超跌反弹选股策略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291101" y="714420"/>
            <a:ext cx="5380356" cy="343303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060530" y="714421"/>
            <a:ext cx="5274310" cy="35527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30629" y="4396847"/>
            <a:ext cx="6498772" cy="2392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交易系统设计：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每日对组合的流动资金和股票价值进行跟踪，两者的和为组合净值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资金管理：每一笔开仓的资金投入为当前组合净值的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2%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，当某日买入信号数较多时，平均分配资金。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开仓平仓：开仓，满足法则的前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条之一，具有足够的流动资金；平仓：持有股票，满足法则后的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条件之一或者达到止损条件。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7602" y="4396847"/>
            <a:ext cx="4216879" cy="169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58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0"/>
            <a:ext cx="109183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五</a:t>
            </a:r>
            <a:r>
              <a:rPr lang="zh-CN" altLang="zh-CN" sz="3200" dirty="0" smtClean="0"/>
              <a:t>、</a:t>
            </a:r>
            <a:r>
              <a:rPr lang="zh-CN" altLang="en-US" sz="3200" dirty="0" smtClean="0"/>
              <a:t>技术面选股</a:t>
            </a:r>
            <a:r>
              <a:rPr lang="en-US" altLang="zh-CN" sz="3200" dirty="0"/>
              <a:t>3</a:t>
            </a:r>
            <a:r>
              <a:rPr lang="en-US" altLang="zh-CN" sz="3200" dirty="0" smtClean="0"/>
              <a:t>– 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基于</a:t>
            </a:r>
            <a:r>
              <a:rPr lang="en-US" altLang="zh-C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OBVMACD</a:t>
            </a:r>
            <a:r>
              <a:rPr lang="zh-CN" altLang="zh-CN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指标选股</a:t>
            </a:r>
            <a:r>
              <a:rPr lang="zh-CN" altLang="zh-CN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模型</a:t>
            </a:r>
            <a:r>
              <a:rPr lang="zh-CN" alt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（结果一般）</a:t>
            </a:r>
            <a:endParaRPr lang="zh-CN" altLang="zh-CN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0742" y="687947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原理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：</a:t>
            </a:r>
            <a:endParaRPr lang="en-US" altLang="zh-CN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认为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量比价先行，能量潮的计算是以某日为基期，逐日累计每日上市股票总成交量，若当日指数或股票上涨，则昨日</a:t>
            </a:r>
            <a:r>
              <a:rPr lang="en-US" altLang="zh-CN" kern="100" dirty="0">
                <a:latin typeface="Arial" panose="020B0604020202020204" pitchFamily="34" charset="0"/>
                <a:cs typeface="Times New Roman" panose="02020603050405020304" pitchFamily="18" charset="0"/>
              </a:rPr>
              <a:t>OBV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加上当日成交量为当日</a:t>
            </a:r>
            <a:r>
              <a:rPr lang="en-US" altLang="zh-CN" kern="100" dirty="0">
                <a:latin typeface="Arial" panose="020B0604020202020204" pitchFamily="34" charset="0"/>
                <a:cs typeface="Times New Roman" panose="02020603050405020304" pitchFamily="18" charset="0"/>
              </a:rPr>
              <a:t>OBV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。若当时指数或股票下跌，则昨日</a:t>
            </a:r>
            <a:r>
              <a:rPr lang="en-US" altLang="zh-CN" kern="100" dirty="0">
                <a:latin typeface="Arial" panose="020B0604020202020204" pitchFamily="34" charset="0"/>
                <a:cs typeface="Times New Roman" panose="02020603050405020304" pitchFamily="18" charset="0"/>
              </a:rPr>
              <a:t>OBV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减去当日成交量为当日</a:t>
            </a:r>
            <a:r>
              <a:rPr lang="en-US" altLang="zh-CN" kern="100" dirty="0">
                <a:latin typeface="Arial" panose="020B0604020202020204" pitchFamily="34" charset="0"/>
                <a:cs typeface="Times New Roman" panose="02020603050405020304" pitchFamily="18" charset="0"/>
              </a:rPr>
              <a:t>OBV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2"/>
          <a:stretch>
            <a:fillRect/>
          </a:stretch>
        </p:blipFill>
        <p:spPr>
          <a:xfrm>
            <a:off x="6847794" y="1486580"/>
            <a:ext cx="4657725" cy="9239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00742" y="2957192"/>
            <a:ext cx="90154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OBVMACD</a:t>
            </a:r>
            <a:r>
              <a:rPr lang="zh-CN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计算</a:t>
            </a:r>
            <a:r>
              <a:rPr lang="en-US" altLang="zh-CN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zh-CN" altLang="zh-CN" kern="100" dirty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DIFF=MA(OBV,12)-MA(OBV,26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);DEA=EMA(DIFF,9);MACD=DIFF-DEA.</a:t>
            </a:r>
          </a:p>
          <a:p>
            <a:pPr>
              <a:lnSpc>
                <a:spcPct val="150000"/>
              </a:lnSpc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MACD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买入，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MACD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小于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卖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出</a:t>
            </a:r>
            <a:endParaRPr lang="zh-CN" altLang="zh-CN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0742" y="4534263"/>
            <a:ext cx="11462657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en-US" kern="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操作步骤：</a:t>
            </a:r>
            <a:endParaRPr lang="en-US" altLang="zh-CN" kern="100" dirty="0" smtClean="0">
              <a:solidFill>
                <a:schemeClr val="accent5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将昨日生成的今日卖出列表中的股票卖出</a:t>
            </a:r>
            <a:r>
              <a:rPr lang="zh-CN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；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将昨日生成的今日买入列表中的股票买入； 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计算净资产和可用现金； </a:t>
            </a:r>
            <a:r>
              <a:rPr lang="en-US" altLang="zh-CN" kern="1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根据可用现金和今日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OBVMACD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触发买入列表指定明日的买入列表； 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根据持有列表和今日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OBVMACD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触发买出列表指定明日的卖出列表； 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备注：对选出的股票按照市值大小从小到大排序，删去流通市值大于</a:t>
            </a:r>
            <a:r>
              <a:rPr lang="en-US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100</a:t>
            </a:r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亿的股票，逐个加入建仓组合，直到最终所需的资金大于我们账户可用资金。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91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1544</Words>
  <Application>Microsoft Office PowerPoint</Application>
  <PresentationFormat>宽屏</PresentationFormat>
  <Paragraphs>102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楷体</vt:lpstr>
      <vt:lpstr>宋体</vt:lpstr>
      <vt:lpstr>Arial</vt:lpstr>
      <vt:lpstr>Calibri</vt:lpstr>
      <vt:lpstr>Calibri Light</vt:lpstr>
      <vt:lpstr>Times New Roman</vt:lpstr>
      <vt:lpstr>Office 主题</vt:lpstr>
      <vt:lpstr>国信证券选股  机器学习、基本面、技术面</vt:lpstr>
      <vt:lpstr>PowerPoint 演示文稿</vt:lpstr>
      <vt:lpstr>国信证券选股  机器学习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国信证券选股  基本面</vt:lpstr>
      <vt:lpstr>PowerPoint 演示文稿</vt:lpstr>
      <vt:lpstr>PowerPoint 演示文稿</vt:lpstr>
      <vt:lpstr>PowerPoint 演示文稿</vt:lpstr>
      <vt:lpstr>国信证券选股  技术面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平安证券多因子</dc:title>
  <dc:creator>pan feng</dc:creator>
  <cp:lastModifiedBy>pan feng</cp:lastModifiedBy>
  <cp:revision>34</cp:revision>
  <dcterms:created xsi:type="dcterms:W3CDTF">2017-05-31T05:55:49Z</dcterms:created>
  <dcterms:modified xsi:type="dcterms:W3CDTF">2017-06-16T05:55:38Z</dcterms:modified>
</cp:coreProperties>
</file>